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c8ca91fd874ba4" /><Relationship Type="http://schemas.openxmlformats.org/officeDocument/2006/relationships/extended-properties" Target="/docProps/app.xml" Id="R8414961667424a80" /><Relationship Type="http://schemas.openxmlformats.org/officeDocument/2006/relationships/officeDocument" Target="/ppt/presentation.xml" Id="R00d6f762786d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925b8918bc4fab"/>
  </p:sldMasterIdLst>
  <p:notesMasterIdLst>
    <p:notesMasterId xmlns:r="http://schemas.openxmlformats.org/officeDocument/2006/relationships" r:id="R2095dc813de9406a"/>
  </p:notesMasterIdLst>
  <p:sldIdLst>
    <p:sldId xmlns:r="http://schemas.openxmlformats.org/officeDocument/2006/relationships" id="256" r:id="R01b28bd4bbd64613"/>
    <p:sldId xmlns:r="http://schemas.openxmlformats.org/officeDocument/2006/relationships" id="257" r:id="R751dca3c0a734347"/>
    <p:sldId xmlns:r="http://schemas.openxmlformats.org/officeDocument/2006/relationships" id="258" r:id="R103fbd43aa024fde"/>
    <p:sldId xmlns:r="http://schemas.openxmlformats.org/officeDocument/2006/relationships" id="259" r:id="Rb546769dbac242ff"/>
    <p:sldId xmlns:r="http://schemas.openxmlformats.org/officeDocument/2006/relationships" id="260" r:id="R579149be2e5b45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9ce11dfb654b69" /><Relationship Type="http://schemas.openxmlformats.org/officeDocument/2006/relationships/slideMaster" Target="/ppt/slideMasters/slideMaster1.xml" Id="R00925b8918bc4fab" /><Relationship Type="http://schemas.openxmlformats.org/officeDocument/2006/relationships/notesMaster" Target="/ppt/notesMasters/notesMaster1.xml" Id="R2095dc813de9406a" /><Relationship Type="http://schemas.openxmlformats.org/officeDocument/2006/relationships/presProps" Target="/ppt/presProps.xml" Id="R84276dd690184406" /><Relationship Type="http://schemas.openxmlformats.org/officeDocument/2006/relationships/viewProps" Target="/ppt/viewProps.xml" Id="R9b453bd607844471" /><Relationship Type="http://schemas.openxmlformats.org/officeDocument/2006/relationships/tableStyles" Target="/ppt/tableStyles.xml" Id="R7756338692d34bee" /><Relationship Type="http://schemas.openxmlformats.org/officeDocument/2006/relationships/slide" Target="/ppt/slides/slide1.xml" Id="R01b28bd4bbd64613" /><Relationship Type="http://schemas.openxmlformats.org/officeDocument/2006/relationships/slide" Target="/ppt/slides/slide2.xml" Id="R751dca3c0a734347" /><Relationship Type="http://schemas.openxmlformats.org/officeDocument/2006/relationships/slide" Target="/ppt/slides/slide3.xml" Id="R103fbd43aa024fde" /><Relationship Type="http://schemas.openxmlformats.org/officeDocument/2006/relationships/slide" Target="/ppt/slides/slide4.xml" Id="Rb546769dbac242ff" /><Relationship Type="http://schemas.openxmlformats.org/officeDocument/2006/relationships/slide" Target="/ppt/slides/slide5.xml" Id="R579149be2e5b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98a6f03c9d48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c51f81e32d4a38" /><Relationship Type="http://schemas.openxmlformats.org/officeDocument/2006/relationships/notesMaster" Target="/ppt/notesMasters/notesMaster1.xml" Id="R3079fc10994641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d63ac693c44183" /><Relationship Type="http://schemas.openxmlformats.org/officeDocument/2006/relationships/notesMaster" Target="/ppt/notesMasters/notesMaster1.xml" Id="R82cfc021e13c48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ab97246ca54972" /><Relationship Type="http://schemas.openxmlformats.org/officeDocument/2006/relationships/notesMaster" Target="/ppt/notesMasters/notesMaster1.xml" Id="R15301f09709b4f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c79105d02d4877" /><Relationship Type="http://schemas.openxmlformats.org/officeDocument/2006/relationships/notesMaster" Target="/ppt/notesMasters/notesMaster1.xml" Id="R0703614ebe764c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b3dd0ae8d244c0" /><Relationship Type="http://schemas.openxmlformats.org/officeDocument/2006/relationships/notesMaster" Target="/ppt/notesMasters/notesMaster1.xml" Id="R2871e3c16bcb4c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fd70d97444a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47bb523a9742d7" /><Relationship Type="http://schemas.openxmlformats.org/officeDocument/2006/relationships/slideLayout" Target="/ppt/slideLayouts/slideLayout1.xml" Id="R12c920395ec341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c920395ec341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579b6ea7c4c39" /><Relationship Type="http://schemas.openxmlformats.org/officeDocument/2006/relationships/notesSlide" Target="/ppt/notesSlides/notesSlide1.xml" Id="R9d9a532a0df745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1c56ecd51427a" /><Relationship Type="http://schemas.openxmlformats.org/officeDocument/2006/relationships/notesSlide" Target="/ppt/notesSlides/notesSlide2.xml" Id="Re2812ec49b3b4e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3c558a7eb420f" /><Relationship Type="http://schemas.openxmlformats.org/officeDocument/2006/relationships/notesSlide" Target="/ppt/notesSlides/notesSlide3.xml" Id="R363ba9835fff4d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4d3b1be694472" /><Relationship Type="http://schemas.openxmlformats.org/officeDocument/2006/relationships/notesSlide" Target="/ppt/notesSlides/notesSlide4.xml" Id="R702d9877ae4d4a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1b092d3ca499b" /><Relationship Type="http://schemas.openxmlformats.org/officeDocument/2006/relationships/notesSlide" Target="/ppt/notesSlides/notesSlide5.xml" Id="Rc8922fd8c2184e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CB7207-CE65-4739-9F46-52975AE0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9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2C473-A4F2-4DD0-905F-25D3C75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02AEC-B90A-49B4-8886-06F01AEB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EINSTIEG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1D50B-ABFC-42B5-AFB3-CBFC6A52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0329-0802-45D1-9B23-26DB042A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59055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Vom Heimcomputer zur KI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39C4C-69AF-4EE5-BA1A-EC0A68F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476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7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D1AC4-B662-4437-8DD8-4F95794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2862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Computer waren damals keine fertigen Apps.</a:t>
            </a:r>
          </a:p>
          <a:p xmlns:a="http://schemas.openxmlformats.org/drawingml/2006/main">
            <a:pPr algn="l">
              <a:defRPr sz="13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Sie waren Maschinen, die man verstehen,</a:t>
            </a:r>
          </a:p>
          <a:p xmlns:a="http://schemas.openxmlformats.org/drawingml/2006/main">
            <a:pPr algn="l">
              <a:defRPr sz="13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ausprobieren und manchmal ueberlisten musste.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FD878-BB0F-4845-84B6-C174FDE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239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E5A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263F4-6900-4D04-8083-85B05E11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219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E1833-7CA0-4AF6-9D09-B4EB6F8B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6205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60DC3-EE9C-4069-8897-1862C024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859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erste digitale Abenteuer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2F312-BBA3-44A7-9D69-A3414A3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28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F2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840E5-F859-401F-94B8-42701677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Amiga 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88E95-3F1A-4893-A6F6-6FF7446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9555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Grafik, Sound, Basteln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B2A40-7E38-4A6E-BD4C-A250124E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38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C7A3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D0955-3F7B-4AE9-A011-584D80EB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Internet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4DE56-C3B9-4F5E-AD66-7644C139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0520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Wissen wird vernetzt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BE700C-4013-4E5B-B34A-2774B9D1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48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6FF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B5180-50B6-4F57-94D6-139F7D95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31432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KI-Agenten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13F17-EAA1-45DB-B633-03A9D36A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4850"/>
            <a:ext cx="3143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Werkzeuge arbeiten 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B7DB4-74A6-4302-9EF5-78A5AB4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35F211-161C-4DA8-B0F2-D9FAB481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38290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Heute: KI, Agenten, Avatare, Vibe Coding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DCF59A-622D-4781-A010-F854167B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6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5BB65-6A35-496F-9F9F-56A19B86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57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Persoenlicher Einstieg: Jochen Leeder, Vortrag Friedrich-Magnus-Gesamtschule Laubach</a:t>
            </a:r>
          </a:p>
        </p:txBody>
      </p:sp>
    </p:spTree>
    <p:extLst>
      <p:ext uri="{BB962C8B-B14F-4D97-AF65-F5344CB8AC3E}">
        <p14:creationId xmlns:p14="http://schemas.microsoft.com/office/powerpoint/2010/main" val="5825741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FF288-50BD-4C37-A0C5-F390ACF0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9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635DE-C79F-4C3C-AF37-999C23A1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8986B-83E1-4552-8301-12C53EE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VORURTEIL KIPPEN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95DB6-664D-4071-80AF-5C38B9C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1E2C7-23A1-4B5E-BD76-BFDD0FD8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KI ist kein Jugendthema.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354F1-9B2D-409D-9A2E-9229946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19125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Zumindest nicht, wenn man sich anschaut, wer KI-Inhalte wirklich verfolgt.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44C0C-15C0-426E-B0F7-DDCE1FE6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191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E27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749B5-D434-426F-9423-3FC1AAD2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2190750" cy="647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4650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6,5 %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4A884-4BCA-4EE4-A04F-1E973DC4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667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13 bis 24 Jahre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E4E22-B0A4-476D-ABC9-8B8CD6AF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53340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7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359B3-6950-4868-8CAA-A5A9B67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95600"/>
            <a:ext cx="2667000" cy="781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80,5 %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F0005-AE87-49FE-A3B2-235FE00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35 Jahre und aelter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3D4D9-DCB7-46E0-B043-110A258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86250"/>
            <a:ext cx="4000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Die groesste Neugier sitzt nicht nur im Klassenzimmer, sondern auch mitten im Berufsleben.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98231-5CDA-4681-B0DF-3FADAB72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6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7936E-E055-4C46-83E8-B44E9991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57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Quelle: Nutzer-Screenshot, Everlast AI YouTube-Kanalstatistik; abgeleitet: 13-24 = 3,8 + 2,7; 35+ = 25,6 + 25,5 + 20,4 + 9,0.</a:t>
            </a:r>
          </a:p>
        </p:txBody>
      </p:sp>
    </p:spTree>
    <p:extLst>
      <p:ext uri="{BB962C8B-B14F-4D97-AF65-F5344CB8AC3E}">
        <p14:creationId xmlns:p14="http://schemas.microsoft.com/office/powerpoint/2010/main" val="10535254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7C63A-2FCE-4B18-955A-B337123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7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3ED0C-1D21-49DC-AF7A-A91870B1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8A6E6-F2A8-4FBB-A87A-FD10A647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BEWEISOBJEKT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EA35B-B962-4A46-B918-831961F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B625D-7B70-4144-84E1-26A6031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4295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Bei einem KI-Kanal liegt die Mitte des Publikums mitten im Berufsleben.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D0DEF-D0AB-4B64-A588-C7E2A91B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4290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36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636A"/>
                </a:solidFill>
                <a:latin typeface="Avenir Next"/>
                <a:ea typeface="Avenir Next"/>
                <a:cs typeface="Avenir Next"/>
              </a:rPr>
              <a:t>Altersverteilung Everlast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7F80C-04CE-4B2F-9669-8A68B8F4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09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13 bis 17 Jahre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20517-29E1-4F26-BE84-13C2F3F4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C242-8876-49F9-A633-86FE414C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62200"/>
            <a:ext cx="55684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6FF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0ECC2-457E-4148-8387-30C2FF0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83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3,8 %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2E23B-F009-4925-955F-8D6EC5A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09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18 bis 24 Jahre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BD520-A3FE-4437-AF7E-1CB62E82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3845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245662-95B2-4219-B358-C84A511E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38450"/>
            <a:ext cx="39565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6FF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F930E-8784-4558-9FCC-842E23B4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83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2,7 %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62D77-D97F-43FF-8131-F4358B25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09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25 bis 34 Jahre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CA089-CA20-4B09-9E59-7923D957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1470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56E22-472D-4B96-BA4C-B442330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147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6FF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3819B-84A8-42ED-9DCC-236F2FA3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83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13,0 %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0979F4-5B27-4EF1-97E6-72BF9327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209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35 bis 44 Jahre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F1AC5-9574-4EC8-8AA0-956A7BE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4580B-8DDB-4049-83E7-1D119A41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37513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F2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B3427-8E24-482D-9EE6-A41441A1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83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25,6 %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B4E7E-8FB7-45F2-B42A-68D386F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09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45 bis 54 Jahre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01D3D-10B7-4C46-B7B3-F05445D3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6720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70103-0831-459B-8981-CFA1F11E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67200"/>
            <a:ext cx="373673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F2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105D7-F176-4EF9-83B1-B6688A8D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10050"/>
            <a:ext cx="83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25,5 %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A26AB-8548-45F3-BB47-2AF9B614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209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55 bis 64 Jahre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2188B9-70C3-474F-ABCE-37B9D63B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4345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259A62-AD7E-4A00-B60C-963960A2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43450"/>
            <a:ext cx="298938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F2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48C246-C3F0-4D32-83A5-6A713737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86300"/>
            <a:ext cx="83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20,4 %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D0B24-0B84-4022-B8DE-84B5B3AA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2095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ueber 65 Jahre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987F2-E90C-43D4-A16A-533D719F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3810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E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7081E4-510C-4122-82B0-6167A738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9700"/>
            <a:ext cx="131884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6FF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5FBD6A-C092-48E9-A21E-0116F351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62550"/>
            <a:ext cx="8382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9,0 %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D7DDD2-BD98-49AC-A415-0E24B011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133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9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180834-D217-4B62-B2D3-FB7E606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47950"/>
            <a:ext cx="158115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29,4 %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56F8E-0E27-4062-8969-BC607CA4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95650"/>
            <a:ext cx="15240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sind 55 Jahre oder aelter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172790-966F-4887-8BEC-02E0EA2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2266950" cy="8572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Das ist genau die Altersgruppe, in der viele berufliche Erfahrung und Skepsis mitbringen.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F758E7-6CE8-4AEF-B161-E12837BC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57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Quelle: Nutzer-Screenshot, Everlast AI YouTube-Kanalstatistik. Hinweis: Kanalpublikum, nicht repraesentativ fuer die Gesamtbevoelkerung.</a:t>
            </a:r>
          </a:p>
        </p:txBody>
      </p:sp>
    </p:spTree>
    <p:extLst>
      <p:ext uri="{BB962C8B-B14F-4D97-AF65-F5344CB8AC3E}">
        <p14:creationId xmlns:p14="http://schemas.microsoft.com/office/powerpoint/2010/main" val="9645282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3677CB-45AF-4DC1-855A-9A8FF60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9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C9D49-9B3E-46A2-8DE9-6E55BD9F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63A3A-FB0E-4853-951C-D1DF629C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STUDIENKONTRAST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53751-D674-4070-A39D-6E1EF1FE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CA19E-EA50-40F0-9B88-3A2BA9EE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763000" cy="9144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Der Unterschied ist nicht Interesse, sondern Selbstverstaendlichkeit.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2969E-848C-4C45-8FC7-CB94EA6D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953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7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DB5DF-DEEF-48DE-BD49-8B1A3982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3143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Klasse 10 heute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0E18-4738-4313-B482-E238FB40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38100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Fast alle 16- bis 19-Jaehrigen nutzen generative KI.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EBD58-8FE8-4957-87A7-71B805A3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3905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Leibniz-HBI: knapp 96 % Nutzung bei 16-19.</a:t>
            </a:r>
          </a:p>
          <a:p xmlns:a="http://schemas.openxmlformats.org/drawingml/2006/main">
            <a:pPr algn="l">
              <a:def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Vodafone: 74 % der 14-20-Jaehrigen nutzen KI-Anwendungen.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BF1FE-7FD3-4EEA-A088-8E5BE0B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CA2B2-9BC1-4401-A7DA-4265546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953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7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E12EA-4717-4BF4-9F24-390CB22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3143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Jochen / Gen 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AD086-CC76-43B1-91A8-2D5A7101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390525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Erwachsene schauen genau hin, fuehlen sich aber seltener sicher.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0AA01-AAA5-4F78-B68C-DF0FCA2F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3905250" cy="8191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FOM: 26 % der Gen X fuehlen sich sicher im Umgang mit KI.</a:t>
            </a:r>
          </a:p>
          <a:p xmlns:a="http://schemas.openxmlformats.org/drawingml/2006/main">
            <a:pPr algn="l">
              <a:def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D21: Nutzen, Einfachheit und Zeitersparnis treiben Akzeptanz.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0AA76-BD9D-46A4-BED2-B29F1D5A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434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F2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44B8A-49FE-4BC8-B62E-288D9BF5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1143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84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84B"/>
                </a:solidFill>
                <a:latin typeface="Avenir Next"/>
                <a:ea typeface="Avenir Next"/>
                <a:cs typeface="Avenir Next"/>
              </a:rPr>
              <a:t>Tempo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51F3A-D73D-4533-B11D-5846888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14950"/>
            <a:ext cx="571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8FBA7-DA69-4760-90CD-E0647C2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102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B6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D7B6FF"/>
                </a:solidFill>
                <a:latin typeface="Avenir Next"/>
                <a:ea typeface="Avenir Next"/>
                <a:cs typeface="Avenir Next"/>
              </a:rPr>
              <a:t>Erfahrung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8F353-5FCD-4210-B13B-C6EECC0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57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Quellen: Leibniz-HBI 2025; Vodafone Stiftung 2024; FOM Hochschule 2025; D21-Digital-Index 2024/25.</a:t>
            </a:r>
          </a:p>
        </p:txBody>
      </p:sp>
    </p:spTree>
    <p:extLst>
      <p:ext uri="{BB962C8B-B14F-4D97-AF65-F5344CB8AC3E}">
        <p14:creationId xmlns:p14="http://schemas.microsoft.com/office/powerpoint/2010/main" val="5179466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1EA12-B855-42EC-BA23-D855052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9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9B047-4AAD-4BA8-B359-B241B235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BFAF2-0EFE-4AD4-A659-B4846A49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UEBERGANG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57F27-E58E-4FB5-9CF4-B9B3E389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3429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9824A-0475-4226-887C-279CBEA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85725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Die spannende Frage ist nicht:</a:t>
            </a:r>
          </a:p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Wer ist besser mit KI?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F524D-8606-41C9-940E-0C68B20C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7810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Sondern: Was passiert, wenn eure Selbstverstaendlichkeit und meine Bastler-Neugier zusammenkommen?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2AEBC-D143-441D-A693-E685299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7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2BB34-1CDD-47EC-B838-BB54DA04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Klasse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D36FF-A9D3-486B-A717-DB99A354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200025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Tempo</a:t>
            </a:r>
          </a:p>
          <a:p xmlns:a="http://schemas.openxmlformats.org/drawingml/2006/main">
            <a:pPr algn="l">
              <a:def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Ausprobieren</a:t>
            </a:r>
          </a:p>
          <a:p xmlns:a="http://schemas.openxmlformats.org/drawingml/2006/main">
            <a:pPr algn="l">
              <a:def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neuer Alltag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5136F-7DC7-424F-8011-C17B3EB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7180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E7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37F82-B6D4-4102-94A3-117D5E9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095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Gen 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60211-3374-4F4C-B7EA-F864230D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000250" cy="666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Erfahrung</a:t>
            </a:r>
          </a:p>
          <a:p xmlns:a="http://schemas.openxmlformats.org/drawingml/2006/main">
            <a:pPr algn="l">
              <a:def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Skepsis</a:t>
            </a:r>
          </a:p>
          <a:p xmlns:a="http://schemas.openxmlformats.org/drawingml/2006/main">
            <a:pPr algn="l">
              <a:def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1434C"/>
                </a:solidFill>
                <a:latin typeface="Avenir Next"/>
                <a:ea typeface="Avenir Next"/>
                <a:cs typeface="Avenir Next"/>
              </a:rPr>
              <a:t>Kontext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C6950-40CA-4735-BFC1-003E09F0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67000"/>
            <a:ext cx="2971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9D3C5-645F-4D58-A011-CB0D450A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05150"/>
            <a:ext cx="2476500" cy="8763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KI verstehen,</a:t>
            </a:r>
          </a:p>
          <a:p xmlns:a="http://schemas.openxmlformats.org/drawingml/2006/main">
            <a:pPr algn="ctr">
              <a:defRPr sz="2550" b="1">
                <a:solidFill>
                  <a:srgbClr val="111319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1319"/>
                </a:solidFill>
                <a:latin typeface="Avenir Next"/>
                <a:ea typeface="Avenir Next"/>
                <a:cs typeface="Avenir Next"/>
              </a:rPr>
              <a:t>nicht nur benutzen.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87705-D013-4554-A00E-EA5B5C5D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24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F2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AA529-A75B-4421-B2F6-D31F1292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242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F2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85699-8C32-450D-B206-F842AD26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Heute geht es um KI, Agenten, Avatare und Vibe Coding als Werkzeuge, die wir kritisch und kreativ nutzen koennen.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706D6-D3C8-4D56-A584-1B843D70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6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4BD6D-0943-4EA9-A758-D68DB68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57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A9ADB8"/>
                </a:solidFill>
                <a:latin typeface="Avenir Next"/>
                <a:ea typeface="Avenir Next"/>
                <a:cs typeface="Avenir Next"/>
              </a:rPr>
              <a:t>Synthesis aus Kanalzahlen und Studienlage: Nutzung, Interesse und Kompetenz unterscheiden sich nach Kontext und Alter.</a:t>
            </a:r>
          </a:p>
        </p:txBody>
      </p:sp>
    </p:spTree>
    <p:extLst>
      <p:ext uri="{BB962C8B-B14F-4D97-AF65-F5344CB8AC3E}">
        <p14:creationId xmlns:p14="http://schemas.microsoft.com/office/powerpoint/2010/main" val="9607153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2026-06-07T12:07:02.0260000Z</dcterms:created>
  <dcterms:modified xsi:type="dcterms:W3CDTF">2026-06-07T12:07:02.0260000Z</dcterms:modified>
</coreProperties>
</file>